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Montserrat Black"/>
      <p:bold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Poppins Light"/>
      <p:regular r:id="rId50"/>
      <p:bold r:id="rId51"/>
      <p:italic r:id="rId52"/>
      <p:boldItalic r:id="rId53"/>
    </p:embeddedFont>
    <p:embeddedFont>
      <p:font typeface="Poppins Medium"/>
      <p:regular r:id="rId54"/>
      <p:bold r:id="rId55"/>
      <p:italic r:id="rId56"/>
      <p:boldItalic r:id="rId57"/>
    </p:embeddedFont>
    <p:embeddedFont>
      <p:font typeface="Montserrat ExtraBold"/>
      <p:bold r:id="rId58"/>
      <p:boldItalic r:id="rId59"/>
    </p:embeddedFont>
    <p:embeddedFont>
      <p:font typeface="Poppins SemiBold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Black-bold.fntdata"/><Relationship Id="rId42" Type="http://schemas.openxmlformats.org/officeDocument/2006/relationships/font" Target="fonts/Montserrat-regular.fntdata"/><Relationship Id="rId41" Type="http://schemas.openxmlformats.org/officeDocument/2006/relationships/font" Target="fonts/MontserratBlack-boldItalic.fntdata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Poppins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oppinsSemiBold-italic.fntdata"/><Relationship Id="rId61" Type="http://schemas.openxmlformats.org/officeDocument/2006/relationships/font" Target="fonts/PoppinsSemiBold-bold.fntdata"/><Relationship Id="rId20" Type="http://schemas.openxmlformats.org/officeDocument/2006/relationships/slide" Target="slides/slide15.xml"/><Relationship Id="rId63" Type="http://schemas.openxmlformats.org/officeDocument/2006/relationships/font" Target="fonts/PoppinsSemi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PoppinsSemiBold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oppinsLight-bold.fntdata"/><Relationship Id="rId50" Type="http://schemas.openxmlformats.org/officeDocument/2006/relationships/font" Target="fonts/PoppinsLight-regular.fntdata"/><Relationship Id="rId53" Type="http://schemas.openxmlformats.org/officeDocument/2006/relationships/font" Target="fonts/PoppinsLight-boldItalic.fntdata"/><Relationship Id="rId52" Type="http://schemas.openxmlformats.org/officeDocument/2006/relationships/font" Target="fonts/PoppinsLight-italic.fntdata"/><Relationship Id="rId11" Type="http://schemas.openxmlformats.org/officeDocument/2006/relationships/slide" Target="slides/slide6.xml"/><Relationship Id="rId55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54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57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56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59" Type="http://schemas.openxmlformats.org/officeDocument/2006/relationships/font" Target="fonts/MontserratExtraBold-boldItalic.fntdata"/><Relationship Id="rId14" Type="http://schemas.openxmlformats.org/officeDocument/2006/relationships/slide" Target="slides/slide9.xml"/><Relationship Id="rId58" Type="http://schemas.openxmlformats.org/officeDocument/2006/relationships/font" Target="fonts/MontserratExtra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e67bcb51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ee67bcb518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e67bcb51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e67bcb518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e67bcb51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ee67bcb518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e67bcb51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e67bcb518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e67bcb51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ee67bcb518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f3fc5026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ef3fc50261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f3fc50261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ef3fc50261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ef3fc5026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ef3fc50261_1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ef3fc50261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ef3fc50261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f3fc50261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ef3fc50261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ef3fc50261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ef3fc50261_1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ef3fc50261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ef3fc50261_1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f3fc50261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ef3fc50261_1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ef3fc50261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f3fc50261_1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f3fc50261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g3ef3fc50261_1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f3fc50261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ef3fc50261_1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f3fc50261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ef3fc50261_1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f3fc50261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ef3fc50261_1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9.png"/><Relationship Id="rId10" Type="http://schemas.openxmlformats.org/officeDocument/2006/relationships/image" Target="../media/image23.png"/><Relationship Id="rId13" Type="http://schemas.openxmlformats.org/officeDocument/2006/relationships/image" Target="../media/image25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15" Type="http://schemas.openxmlformats.org/officeDocument/2006/relationships/image" Target="../media/image2.png"/><Relationship Id="rId1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32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3.png"/><Relationship Id="rId8" Type="http://schemas.openxmlformats.org/officeDocument/2006/relationships/image" Target="../media/image43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65.png"/><Relationship Id="rId11" Type="http://schemas.openxmlformats.org/officeDocument/2006/relationships/image" Target="../media/image48.png"/><Relationship Id="rId22" Type="http://schemas.openxmlformats.org/officeDocument/2006/relationships/image" Target="../media/image58.png"/><Relationship Id="rId10" Type="http://schemas.openxmlformats.org/officeDocument/2006/relationships/image" Target="../media/image56.png"/><Relationship Id="rId21" Type="http://schemas.openxmlformats.org/officeDocument/2006/relationships/image" Target="../media/image55.png"/><Relationship Id="rId13" Type="http://schemas.openxmlformats.org/officeDocument/2006/relationships/image" Target="../media/image44.png"/><Relationship Id="rId12" Type="http://schemas.openxmlformats.org/officeDocument/2006/relationships/image" Target="../media/image61.png"/><Relationship Id="rId23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9" Type="http://schemas.openxmlformats.org/officeDocument/2006/relationships/image" Target="../media/image47.png"/><Relationship Id="rId15" Type="http://schemas.openxmlformats.org/officeDocument/2006/relationships/image" Target="../media/image38.png"/><Relationship Id="rId14" Type="http://schemas.openxmlformats.org/officeDocument/2006/relationships/image" Target="../media/image46.png"/><Relationship Id="rId17" Type="http://schemas.openxmlformats.org/officeDocument/2006/relationships/image" Target="../media/image39.png"/><Relationship Id="rId16" Type="http://schemas.openxmlformats.org/officeDocument/2006/relationships/image" Target="../media/image45.png"/><Relationship Id="rId5" Type="http://schemas.openxmlformats.org/officeDocument/2006/relationships/image" Target="../media/image41.png"/><Relationship Id="rId19" Type="http://schemas.openxmlformats.org/officeDocument/2006/relationships/image" Target="../media/image62.png"/><Relationship Id="rId6" Type="http://schemas.openxmlformats.org/officeDocument/2006/relationships/image" Target="../media/image37.png"/><Relationship Id="rId18" Type="http://schemas.openxmlformats.org/officeDocument/2006/relationships/image" Target="../media/image52.png"/><Relationship Id="rId7" Type="http://schemas.openxmlformats.org/officeDocument/2006/relationships/image" Target="../media/image42.png"/><Relationship Id="rId8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66.png"/><Relationship Id="rId9" Type="http://schemas.openxmlformats.org/officeDocument/2006/relationships/image" Target="../media/image63.png"/><Relationship Id="rId5" Type="http://schemas.openxmlformats.org/officeDocument/2006/relationships/image" Target="../media/image53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60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5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2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7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69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1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4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67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2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1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6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0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2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6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4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9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87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6.png"/><Relationship Id="rId4" Type="http://schemas.openxmlformats.org/officeDocument/2006/relationships/image" Target="../media/image53.png"/><Relationship Id="rId9" Type="http://schemas.openxmlformats.org/officeDocument/2006/relationships/image" Target="../media/image63.png"/><Relationship Id="rId5" Type="http://schemas.openxmlformats.org/officeDocument/2006/relationships/image" Target="../media/image78.png"/><Relationship Id="rId6" Type="http://schemas.openxmlformats.org/officeDocument/2006/relationships/image" Target="../media/image57.png"/><Relationship Id="rId7" Type="http://schemas.openxmlformats.org/officeDocument/2006/relationships/image" Target="../media/image51.png"/><Relationship Id="rId8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4.png"/><Relationship Id="rId4" Type="http://schemas.openxmlformats.org/officeDocument/2006/relationships/image" Target="../media/image68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Relationship Id="rId7" Type="http://schemas.openxmlformats.org/officeDocument/2006/relationships/image" Target="../media/image9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0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83.png"/><Relationship Id="rId5" Type="http://schemas.openxmlformats.org/officeDocument/2006/relationships/image" Target="../media/image88.png"/><Relationship Id="rId6" Type="http://schemas.openxmlformats.org/officeDocument/2006/relationships/image" Target="../media/image91.png"/><Relationship Id="rId7" Type="http://schemas.openxmlformats.org/officeDocument/2006/relationships/image" Target="../media/image85.png"/><Relationship Id="rId8" Type="http://schemas.openxmlformats.org/officeDocument/2006/relationships/image" Target="../media/image8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101.png"/></Relationships>
</file>

<file path=ppt/slides/_rels/slide3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9.png"/><Relationship Id="rId8" Type="http://schemas.openxmlformats.org/officeDocument/2006/relationships/image" Target="../media/image9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695575"/>
            <a:ext cx="411480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2130921"/>
            <a:ext cx="648081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1F5F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Gestão Financeira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F1F5F9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Simplificada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5699042"/>
            <a:ext cx="6172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1E7D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Controle financeiro ágil e inteligente desenvolvido sob medida para Microempreendedores Individuais.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581900" y="2924175"/>
            <a:ext cx="3800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INTEGRANTES DO PROJETO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1511796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1304925" y="1549896"/>
            <a:ext cx="14478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MEI EASY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950025"/>
            <a:ext cx="3560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A3CFA7"/>
                </a:solidFill>
                <a:latin typeface="Poppins"/>
                <a:ea typeface="Poppins"/>
                <a:cs typeface="Poppins"/>
                <a:sym typeface="Poppins"/>
              </a:rPr>
              <a:t>Trabalho Interdisciplinar – Aplicação Móvel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581900" y="32099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Daniel de Freitas Cunha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429750" y="32099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Danilo Henrique de Souza R.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581900" y="34766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Diego Leôncio Batista Rosa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429750" y="34766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Gabriel Ribeiro Augusto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81900" y="37433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Gustavo Milagres da Costa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9429750" y="3743325"/>
            <a:ext cx="1771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1E7D4"/>
                </a:solidFill>
                <a:latin typeface="Poppins"/>
                <a:ea typeface="Poppins"/>
                <a:cs typeface="Poppins"/>
                <a:sym typeface="Poppins"/>
              </a:rPr>
              <a:t>Sara Marçal Rocha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20105"/>
            <a:ext cx="5191125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320105"/>
            <a:ext cx="5191125" cy="496639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381125" y="1615380"/>
            <a:ext cx="44905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Dificuldades Operacionais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1057275" y="1967805"/>
            <a:ext cx="4600575" cy="190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886575" y="1615380"/>
            <a:ext cx="4460557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Consequências no Negócio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6534150" y="1967805"/>
            <a:ext cx="4600575" cy="190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7275" y="163919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323975" y="2177355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Controle manual descentralizado em cadernos de anotações físicas.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23975" y="2720280"/>
            <a:ext cx="433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Histórico de vendas disperso em conversas de WhatsApp.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323975" y="3063180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Necessidade de consulta e conciliação manual frequente de extratos.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23975" y="3606105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Dificuldade de consolidar múltiplas formas de pagamento (Pix, Cartão, Dinheiro).</a:t>
            </a:r>
            <a:endParaRPr/>
          </a:p>
        </p:txBody>
      </p:sp>
      <p:pic>
        <p:nvPicPr>
          <p:cNvPr descr="image.png" id="114" name="Google Shape;11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163919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6800850" y="2177355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Desorganização crônica do fluxo de caixa e perda de registros de movimentações.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00850" y="2720280"/>
            <a:ext cx="4333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Tomada de decisões gerenciais às cegas por falta de relatórios objetivos.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00850" y="3263205"/>
            <a:ext cx="433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Mistura prejudicial entre finanças pessoais e empresariais.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2059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27488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0917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7275" y="363468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20593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74885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32917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PROBLEMA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2479327"/>
            <a:ext cx="61722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5600700" y="2765077"/>
            <a:ext cx="55435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"Eu sinto falta de ter um lugar só para bater o olho e entender como está a situação da serralheria."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495025" y="3565177"/>
            <a:ext cx="1489500" cy="307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HUGO ROCHA | S</a:t>
            </a:r>
            <a:r>
              <a:rPr lang="en-US" sz="975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erralheiro 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ESTUDO DE CASO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15"/>
          <p:cNvGrpSpPr/>
          <p:nvPr/>
        </p:nvGrpSpPr>
        <p:grpSpPr>
          <a:xfrm>
            <a:off x="5257800" y="3755675"/>
            <a:ext cx="3028950" cy="628650"/>
            <a:chOff x="5257800" y="5366700"/>
            <a:chExt cx="3028950" cy="628650"/>
          </a:xfrm>
        </p:grpSpPr>
        <p:pic>
          <p:nvPicPr>
            <p:cNvPr descr="image.png" id="137" name="Google Shape;13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7800" y="5366700"/>
              <a:ext cx="30289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5"/>
            <p:cNvSpPr txBox="1"/>
            <p:nvPr/>
          </p:nvSpPr>
          <p:spPr>
            <a:xfrm>
              <a:off x="5410200" y="5489225"/>
              <a:ext cx="2682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Registrar receitas/despesas de forma rápida</a:t>
              </a:r>
              <a:endParaRPr sz="500">
                <a:solidFill>
                  <a:schemeClr val="lt1"/>
                </a:solidFill>
              </a:endParaRPr>
            </a:p>
          </p:txBody>
        </p:sp>
      </p:grpSp>
      <p:grpSp>
        <p:nvGrpSpPr>
          <p:cNvPr id="139" name="Google Shape;139;p15"/>
          <p:cNvGrpSpPr/>
          <p:nvPr/>
        </p:nvGrpSpPr>
        <p:grpSpPr>
          <a:xfrm>
            <a:off x="8401050" y="3755675"/>
            <a:ext cx="3028950" cy="628650"/>
            <a:chOff x="8201600" y="3426900"/>
            <a:chExt cx="3028950" cy="628650"/>
          </a:xfrm>
        </p:grpSpPr>
        <p:pic>
          <p:nvPicPr>
            <p:cNvPr descr="image.png"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01600" y="3426900"/>
              <a:ext cx="30289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 txBox="1"/>
            <p:nvPr/>
          </p:nvSpPr>
          <p:spPr>
            <a:xfrm>
              <a:off x="8286750" y="3501075"/>
              <a:ext cx="2682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Centralizar informações financeiras em um lugar</a:t>
              </a:r>
              <a:endParaRPr sz="500">
                <a:solidFill>
                  <a:schemeClr val="lt1"/>
                </a:solidFill>
              </a:endParaRPr>
            </a:p>
          </p:txBody>
        </p:sp>
      </p:grpSp>
      <p:grpSp>
        <p:nvGrpSpPr>
          <p:cNvPr id="142" name="Google Shape;142;p15"/>
          <p:cNvGrpSpPr/>
          <p:nvPr/>
        </p:nvGrpSpPr>
        <p:grpSpPr>
          <a:xfrm>
            <a:off x="5286375" y="4574825"/>
            <a:ext cx="3028950" cy="628650"/>
            <a:chOff x="5257800" y="5366700"/>
            <a:chExt cx="3028950" cy="628650"/>
          </a:xfrm>
        </p:grpSpPr>
        <p:pic>
          <p:nvPicPr>
            <p:cNvPr descr="image.png" id="143" name="Google Shape;143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7800" y="5366700"/>
              <a:ext cx="30289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5"/>
            <p:cNvSpPr txBox="1"/>
            <p:nvPr/>
          </p:nvSpPr>
          <p:spPr>
            <a:xfrm>
              <a:off x="5410200" y="5489225"/>
              <a:ext cx="2682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Visualização e consulta de lucro e de saldo</a:t>
              </a:r>
              <a:endParaRPr sz="500">
                <a:solidFill>
                  <a:schemeClr val="lt1"/>
                </a:solidFill>
              </a:endParaRPr>
            </a:p>
          </p:txBody>
        </p:sp>
      </p:grpSp>
      <p:grpSp>
        <p:nvGrpSpPr>
          <p:cNvPr id="145" name="Google Shape;145;p15"/>
          <p:cNvGrpSpPr/>
          <p:nvPr/>
        </p:nvGrpSpPr>
        <p:grpSpPr>
          <a:xfrm>
            <a:off x="8429625" y="4574825"/>
            <a:ext cx="3028950" cy="628650"/>
            <a:chOff x="5257800" y="5366700"/>
            <a:chExt cx="3028950" cy="628650"/>
          </a:xfrm>
        </p:grpSpPr>
        <p:pic>
          <p:nvPicPr>
            <p:cNvPr descr="image.png" id="146" name="Google Shape;14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57800" y="5366700"/>
              <a:ext cx="3028950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15"/>
            <p:cNvSpPr txBox="1"/>
            <p:nvPr/>
          </p:nvSpPr>
          <p:spPr>
            <a:xfrm>
              <a:off x="5410200" y="5489225"/>
              <a:ext cx="2682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5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Simplicidade operacional focada no microempreendor</a:t>
              </a:r>
              <a:endParaRPr sz="5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20416"/>
            <a:ext cx="106680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7474" y="3139529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976472" y="2915691"/>
            <a:ext cx="33937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PROBLEMA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57275" y="3144291"/>
            <a:ext cx="3232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Controle manual e disperso</a:t>
            </a:r>
            <a:endParaRPr/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50074" y="3139529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4399072" y="2915691"/>
            <a:ext cx="33937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NECESSIDADE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479875" y="3144291"/>
            <a:ext cx="3232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Agilidade e visão unificada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821673" y="2915691"/>
            <a:ext cx="339370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SOLUÇÃO (MEI EASY)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7902475" y="3144291"/>
            <a:ext cx="3232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Aplicativo financeiro intuitivo</a:t>
            </a:r>
            <a:endParaRPr/>
          </a:p>
        </p:txBody>
      </p:sp>
      <p:pic>
        <p:nvPicPr>
          <p:cNvPr descr="image.png" id="162" name="Google Shape;16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14441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525" y="4144416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01025" y="41444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562100" y="4144416"/>
            <a:ext cx="25503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Simplificado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562100" y="4439691"/>
            <a:ext cx="24288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Lançamentos ágeis de entradas e saídas de caixa organizados.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238750" y="4144416"/>
            <a:ext cx="249031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Estoque e Vendas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5238750" y="4439691"/>
            <a:ext cx="23717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Monitoramento básico de produtos para apoiar o faturamento.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801100" y="4144416"/>
            <a:ext cx="25503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Metas &amp; Indicadores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801100" y="4439691"/>
            <a:ext cx="24288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Visualização das metas financeiras mensais estipuladas.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OBJETIVO DO PROJETO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762000" y="2741265"/>
            <a:ext cx="5334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A centralização que o seu negócio precisa.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762000" y="4341465"/>
            <a:ext cx="5334000" cy="523875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952500" y="4484340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"Tudo em um único aplicativo."</a:t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762000" y="4341465"/>
            <a:ext cx="38100" cy="523875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990600" y="316989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Controle Financeiro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714750" y="316989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Dashboard Visual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90600" y="3503265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Relatórios de Lucro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3714750" y="3503265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Gestão de Clientes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990600" y="383664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Controle de Estoque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3714750" y="3836640"/>
            <a:ext cx="2381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E2E8F0"/>
                </a:solidFill>
                <a:latin typeface="Poppins"/>
                <a:ea typeface="Poppins"/>
                <a:cs typeface="Poppins"/>
                <a:sym typeface="Poppins"/>
              </a:rPr>
              <a:t>Metas Mensais</a:t>
            </a:r>
            <a:endParaRPr/>
          </a:p>
        </p:txBody>
      </p:sp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1275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6150" y="321275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4612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6150" y="354612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950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6150" y="387950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762000" y="571500"/>
            <a:ext cx="56007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O MEI EASY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143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20105"/>
            <a:ext cx="2524125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6625" y="1320105"/>
            <a:ext cx="2524125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320105"/>
            <a:ext cx="2524125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05875" y="1320105"/>
            <a:ext cx="2524125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19262" y="155823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8"/>
          <p:cNvSpPr txBox="1"/>
          <p:nvPr/>
        </p:nvSpPr>
        <p:spPr>
          <a:xfrm>
            <a:off x="1609010" y="2358330"/>
            <a:ext cx="830103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Frontend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000125" y="5751314"/>
            <a:ext cx="20478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Interface mobile cross-platform de alta performance.</a:t>
            </a:r>
            <a:endParaRPr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33887" y="155823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4333636" y="2358330"/>
            <a:ext cx="81010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Backend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3714750" y="5751314"/>
            <a:ext cx="20478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Autenticação segura e infraestrutura em nuvem resiliente.</a:t>
            </a:r>
            <a:endParaRPr/>
          </a:p>
        </p:txBody>
      </p:sp>
      <p:pic>
        <p:nvPicPr>
          <p:cNvPr descr="image.png" id="211" name="Google Shape;21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8512" y="155823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018258" y="2358330"/>
            <a:ext cx="87010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Database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429375" y="5751314"/>
            <a:ext cx="20478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NoSQL flexível para armazenamento em tempo real.</a:t>
            </a:r>
            <a:endParaRPr/>
          </a:p>
        </p:txBody>
      </p:sp>
      <p:pic>
        <p:nvPicPr>
          <p:cNvPr descr="image.png" id="214" name="Google Shape;21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63137" y="155823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9602866" y="2358330"/>
            <a:ext cx="113014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Metodologia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144000" y="5751314"/>
            <a:ext cx="2047875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Gestão ágil de código e sprints semanais organizados.</a:t>
            </a:r>
            <a:endParaRPr/>
          </a:p>
        </p:txBody>
      </p:sp>
      <p:pic>
        <p:nvPicPr>
          <p:cNvPr descr="image.png" id="217" name="Google Shape;21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90712" y="17296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19625" y="172968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334250" y="172968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24700" y="5408414"/>
            <a:ext cx="6572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001250" y="172968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TECNOLOGIAS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18"/>
          <p:cNvGrpSpPr/>
          <p:nvPr/>
        </p:nvGrpSpPr>
        <p:grpSpPr>
          <a:xfrm>
            <a:off x="1234103" y="5420863"/>
            <a:ext cx="870125" cy="241825"/>
            <a:chOff x="5253525" y="6753340"/>
            <a:chExt cx="816712" cy="297046"/>
          </a:xfrm>
        </p:grpSpPr>
        <p:pic>
          <p:nvPicPr>
            <p:cNvPr descr="image.png" id="225" name="Google Shape;225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5253525" y="6753340"/>
              <a:ext cx="816712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8"/>
            <p:cNvSpPr txBox="1"/>
            <p:nvPr/>
          </p:nvSpPr>
          <p:spPr>
            <a:xfrm>
              <a:off x="5316727" y="6821021"/>
              <a:ext cx="69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React Native</a:t>
              </a:r>
              <a:endParaRPr sz="407">
                <a:solidFill>
                  <a:schemeClr val="lt1"/>
                </a:solidFill>
              </a:endParaRPr>
            </a:p>
          </p:txBody>
        </p:sp>
      </p:grpSp>
      <p:grpSp>
        <p:nvGrpSpPr>
          <p:cNvPr id="227" name="Google Shape;227;p18"/>
          <p:cNvGrpSpPr/>
          <p:nvPr/>
        </p:nvGrpSpPr>
        <p:grpSpPr>
          <a:xfrm>
            <a:off x="2348652" y="5420863"/>
            <a:ext cx="374425" cy="241825"/>
            <a:chOff x="4958541" y="5366701"/>
            <a:chExt cx="351441" cy="297046"/>
          </a:xfrm>
        </p:grpSpPr>
        <p:pic>
          <p:nvPicPr>
            <p:cNvPr descr="image.png" id="228" name="Google Shape;228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4958541" y="5366701"/>
              <a:ext cx="351441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18"/>
            <p:cNvSpPr txBox="1"/>
            <p:nvPr/>
          </p:nvSpPr>
          <p:spPr>
            <a:xfrm>
              <a:off x="5021748" y="5434352"/>
              <a:ext cx="2502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Expo</a:t>
              </a:r>
              <a:endParaRPr sz="407">
                <a:solidFill>
                  <a:schemeClr val="lt1"/>
                </a:solidFill>
              </a:endParaRPr>
            </a:p>
          </p:txBody>
        </p:sp>
      </p:grpSp>
      <p:grpSp>
        <p:nvGrpSpPr>
          <p:cNvPr id="230" name="Google Shape;230;p18"/>
          <p:cNvGrpSpPr/>
          <p:nvPr/>
        </p:nvGrpSpPr>
        <p:grpSpPr>
          <a:xfrm>
            <a:off x="4303628" y="5433300"/>
            <a:ext cx="870125" cy="241825"/>
            <a:chOff x="4958542" y="5366701"/>
            <a:chExt cx="816712" cy="297046"/>
          </a:xfrm>
        </p:grpSpPr>
        <p:pic>
          <p:nvPicPr>
            <p:cNvPr descr="image.png" id="231" name="Google Shape;231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4958542" y="5366701"/>
              <a:ext cx="816712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8"/>
            <p:cNvSpPr txBox="1"/>
            <p:nvPr/>
          </p:nvSpPr>
          <p:spPr>
            <a:xfrm>
              <a:off x="5021744" y="5434367"/>
              <a:ext cx="69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Firebase</a:t>
              </a:r>
              <a:endParaRPr sz="407">
                <a:solidFill>
                  <a:schemeClr val="lt1"/>
                </a:solidFill>
              </a:endParaRPr>
            </a:p>
          </p:txBody>
        </p:sp>
      </p:grpSp>
      <p:grpSp>
        <p:nvGrpSpPr>
          <p:cNvPr id="233" name="Google Shape;233;p18"/>
          <p:cNvGrpSpPr/>
          <p:nvPr/>
        </p:nvGrpSpPr>
        <p:grpSpPr>
          <a:xfrm>
            <a:off x="7018253" y="5420863"/>
            <a:ext cx="870125" cy="241825"/>
            <a:chOff x="4958542" y="5366701"/>
            <a:chExt cx="816712" cy="297046"/>
          </a:xfrm>
        </p:grpSpPr>
        <p:pic>
          <p:nvPicPr>
            <p:cNvPr descr="image.png" id="234" name="Google Shape;234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4958542" y="5366701"/>
              <a:ext cx="816712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18"/>
            <p:cNvSpPr txBox="1"/>
            <p:nvPr/>
          </p:nvSpPr>
          <p:spPr>
            <a:xfrm>
              <a:off x="5021744" y="5434367"/>
              <a:ext cx="69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Firestone</a:t>
              </a:r>
              <a:endParaRPr sz="407">
                <a:solidFill>
                  <a:schemeClr val="lt1"/>
                </a:solidFill>
              </a:endParaRPr>
            </a:p>
          </p:txBody>
        </p:sp>
      </p:grpSp>
      <p:grpSp>
        <p:nvGrpSpPr>
          <p:cNvPr id="236" name="Google Shape;236;p18"/>
          <p:cNvGrpSpPr/>
          <p:nvPr/>
        </p:nvGrpSpPr>
        <p:grpSpPr>
          <a:xfrm>
            <a:off x="9531763" y="5420878"/>
            <a:ext cx="571535" cy="241825"/>
            <a:chOff x="4927069" y="5725901"/>
            <a:chExt cx="816712" cy="297046"/>
          </a:xfrm>
        </p:grpSpPr>
        <p:pic>
          <p:nvPicPr>
            <p:cNvPr descr="image.png" id="237" name="Google Shape;237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4927069" y="5725901"/>
              <a:ext cx="816712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8" name="Google Shape;238;p18"/>
            <p:cNvSpPr txBox="1"/>
            <p:nvPr/>
          </p:nvSpPr>
          <p:spPr>
            <a:xfrm>
              <a:off x="4990271" y="5793552"/>
              <a:ext cx="69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Scrum</a:t>
              </a:r>
              <a:endParaRPr sz="407">
                <a:solidFill>
                  <a:schemeClr val="lt1"/>
                </a:solidFill>
              </a:endParaRPr>
            </a:p>
          </p:txBody>
        </p:sp>
      </p:grpSp>
      <p:grpSp>
        <p:nvGrpSpPr>
          <p:cNvPr id="239" name="Google Shape;239;p18"/>
          <p:cNvGrpSpPr/>
          <p:nvPr/>
        </p:nvGrpSpPr>
        <p:grpSpPr>
          <a:xfrm>
            <a:off x="10159828" y="5420850"/>
            <a:ext cx="870125" cy="241825"/>
            <a:chOff x="4958542" y="5366701"/>
            <a:chExt cx="816712" cy="297046"/>
          </a:xfrm>
        </p:grpSpPr>
        <p:pic>
          <p:nvPicPr>
            <p:cNvPr descr="image.png" id="240" name="Google Shape;240;p18"/>
            <p:cNvPicPr preferRelativeResize="0"/>
            <p:nvPr/>
          </p:nvPicPr>
          <p:blipFill rotWithShape="1">
            <a:blip r:embed="rId15">
              <a:alphaModFix/>
            </a:blip>
            <a:srcRect b="0" l="0" r="23006" t="0"/>
            <a:stretch/>
          </p:blipFill>
          <p:spPr>
            <a:xfrm>
              <a:off x="4958542" y="5366701"/>
              <a:ext cx="816712" cy="29704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8"/>
            <p:cNvSpPr txBox="1"/>
            <p:nvPr/>
          </p:nvSpPr>
          <p:spPr>
            <a:xfrm>
              <a:off x="5021744" y="5434367"/>
              <a:ext cx="690300" cy="1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855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GitHub</a:t>
              </a:r>
              <a:endParaRPr sz="407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7100" y="2693640"/>
            <a:ext cx="4152900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603152"/>
            <a:ext cx="62293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50877"/>
            <a:ext cx="62293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298602"/>
            <a:ext cx="62293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7562850" y="2979390"/>
            <a:ext cx="376047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5D6A7"/>
                </a:solidFill>
                <a:latin typeface="Montserrat"/>
                <a:ea typeface="Montserrat"/>
                <a:cs typeface="Montserrat"/>
                <a:sym typeface="Montserrat"/>
              </a:rPr>
              <a:t>Coleções do Firestore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7562850" y="3284190"/>
            <a:ext cx="35814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3" name="Google Shape;2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276507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36128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446052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7724775" y="348421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Usuários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9572625" y="348421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Movimentações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7724775" y="3798540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Categorias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9572625" y="3798540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Clientes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724775" y="411286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Metas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9572625" y="4112865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Produtos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7724775" y="4427190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Contas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9572625" y="4427190"/>
            <a:ext cx="1571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Notificações</a:t>
            </a:r>
            <a:endParaRPr/>
          </a:p>
        </p:txBody>
      </p:sp>
      <p:pic>
        <p:nvPicPr>
          <p:cNvPr descr="image.png" id="264" name="Google Shape;26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425" y="2869852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1524000" y="2769840"/>
            <a:ext cx="299037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Usuário Final (MEI)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1524000" y="2969865"/>
            <a:ext cx="2847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Interação em tela e cadastro de transações no App.</a:t>
            </a:r>
            <a:endParaRPr/>
          </a:p>
        </p:txBody>
      </p:sp>
      <p:pic>
        <p:nvPicPr>
          <p:cNvPr descr="image.png" id="267" name="Google Shape;267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23950" y="3717577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 txBox="1"/>
          <p:nvPr/>
        </p:nvSpPr>
        <p:spPr>
          <a:xfrm>
            <a:off x="1524000" y="3617565"/>
            <a:ext cx="33004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Aplicação Mobile (React Native)</a:t>
            </a:r>
            <a:endParaRPr/>
          </a:p>
        </p:txBody>
      </p:sp>
      <p:sp>
        <p:nvSpPr>
          <p:cNvPr id="269" name="Google Shape;269;p19"/>
          <p:cNvSpPr txBox="1"/>
          <p:nvPr/>
        </p:nvSpPr>
        <p:spPr>
          <a:xfrm>
            <a:off x="1524000" y="3817590"/>
            <a:ext cx="3143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Renderização das views e requisições via SDK do Firebase.</a:t>
            </a:r>
            <a:endParaRPr/>
          </a:p>
        </p:txBody>
      </p:sp>
      <p:pic>
        <p:nvPicPr>
          <p:cNvPr descr="image.png" id="270" name="Google Shape;270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04900" y="456530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9"/>
          <p:cNvSpPr txBox="1"/>
          <p:nvPr/>
        </p:nvSpPr>
        <p:spPr>
          <a:xfrm>
            <a:off x="1524000" y="4465290"/>
            <a:ext cx="2920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Firebase Auth &amp; Firestore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1524000" y="4665315"/>
            <a:ext cx="2781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Processamento seguro e sincronização persistente.</a:t>
            </a:r>
            <a:endParaRPr/>
          </a:p>
        </p:txBody>
      </p:sp>
      <p:pic>
        <p:nvPicPr>
          <p:cNvPr descr="image.png" id="273" name="Google Shape;273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62850" y="3512790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0700" y="3512790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62850" y="3827115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0700" y="3827115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62850" y="4141440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0700" y="4141440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562850" y="4455765"/>
            <a:ext cx="666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410700" y="4455765"/>
            <a:ext cx="666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/>
          <p:nvPr/>
        </p:nvSpPr>
        <p:spPr>
          <a:xfrm>
            <a:off x="3867150" y="2879377"/>
            <a:ext cx="19050" cy="1524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3867150" y="3727102"/>
            <a:ext cx="19050" cy="1524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ARQUITETURA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20105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4718" y="1320105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1320105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70156" y="1320105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874740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64718" y="3874740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437" y="3874740"/>
            <a:ext cx="2559843" cy="24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70156" y="3874740"/>
            <a:ext cx="2559843" cy="24117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 txBox="1"/>
          <p:nvPr/>
        </p:nvSpPr>
        <p:spPr>
          <a:xfrm>
            <a:off x="923925" y="3396704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Cadastro &amp; Autenticação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3626643" y="3396704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Movimentações Financeiras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6329362" y="3396704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Categorização de Fluxo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9032081" y="3396704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923925" y="5951339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Cadastro de Clientes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3626643" y="5951339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Dashboard Consolidado</a:t>
            </a:r>
            <a:endParaRPr/>
          </a:p>
        </p:txBody>
      </p:sp>
      <p:sp>
        <p:nvSpPr>
          <p:cNvPr id="304" name="Google Shape;304;p20"/>
          <p:cNvSpPr txBox="1"/>
          <p:nvPr/>
        </p:nvSpPr>
        <p:spPr>
          <a:xfrm>
            <a:off x="6329362" y="5951339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Relatórios Dinâmicos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9032081" y="5951339"/>
            <a:ext cx="2347793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Controle de Estoque</a:t>
            </a:r>
            <a:endParaRPr/>
          </a:p>
        </p:txBody>
      </p:sp>
      <p:pic>
        <p:nvPicPr>
          <p:cNvPr descr="image.png" id="306" name="Google Shape;3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3925" y="1482030"/>
            <a:ext cx="4572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07518" y="150584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6643" y="1482030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72137" y="150584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29362" y="1482030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12956" y="150584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32081" y="1482030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115675" y="150584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23925" y="4036665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969418" y="4060477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626643" y="4036665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691187" y="406047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6329362" y="4036665"/>
            <a:ext cx="4857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451056" y="4060477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9032081" y="4036665"/>
            <a:ext cx="4572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11096625" y="4060477"/>
            <a:ext cx="1714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FUNCIONALIDADES IMPLEMENTADAS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1" title="login.png"/>
          <p:cNvPicPr preferRelativeResize="0"/>
          <p:nvPr/>
        </p:nvPicPr>
        <p:blipFill rotWithShape="1">
          <a:blip r:embed="rId3">
            <a:alphaModFix/>
          </a:blip>
          <a:srcRect b="11675" l="0" r="0" t="11667"/>
          <a:stretch/>
        </p:blipFill>
        <p:spPr>
          <a:xfrm>
            <a:off x="2219325" y="1517302"/>
            <a:ext cx="2743200" cy="4571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1"/>
          <p:cNvSpPr txBox="1"/>
          <p:nvPr/>
        </p:nvSpPr>
        <p:spPr>
          <a:xfrm>
            <a:off x="7486650" y="3041302"/>
            <a:ext cx="14601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7486650" y="3241327"/>
            <a:ext cx="139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9877425" y="3041302"/>
            <a:ext cx="14601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9877425" y="3241327"/>
            <a:ext cx="139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7458075" y="4041427"/>
            <a:ext cx="149018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7458075" y="4241452"/>
            <a:ext cx="14192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9801225" y="4041427"/>
            <a:ext cx="154019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9801225" y="4241452"/>
            <a:ext cx="1466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342" name="Google Shape;342;p21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Login</a:t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2" title="Captura de tela 2026-06-24 232135.png"/>
          <p:cNvPicPr preferRelativeResize="0"/>
          <p:nvPr/>
        </p:nvPicPr>
        <p:blipFill rotWithShape="1">
          <a:blip r:embed="rId5">
            <a:alphaModFix/>
          </a:blip>
          <a:srcRect b="807" l="0" r="0" t="807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358" name="Google Shape;358;p22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359" name="Google Shape;359;p22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Cadastro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3" title="Captura de tela 2026-06-24 232333.png"/>
          <p:cNvPicPr preferRelativeResize="0"/>
          <p:nvPr/>
        </p:nvPicPr>
        <p:blipFill rotWithShape="1">
          <a:blip r:embed="rId5">
            <a:alphaModFix/>
          </a:blip>
          <a:srcRect b="466" l="0" r="0" t="466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3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Perfil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4" title="Captura de tela 2026-06-24 232429.png"/>
          <p:cNvPicPr preferRelativeResize="0"/>
          <p:nvPr/>
        </p:nvPicPr>
        <p:blipFill rotWithShape="1">
          <a:blip r:embed="rId5">
            <a:alphaModFix/>
          </a:blip>
          <a:srcRect b="3008" l="0" r="0" t="2998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4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401" name="Google Shape;401;p24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Clientes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5" title="Captura de tela 2026-06-24 232650.png"/>
          <p:cNvPicPr preferRelativeResize="0"/>
          <p:nvPr/>
        </p:nvPicPr>
        <p:blipFill rotWithShape="1">
          <a:blip r:embed="rId5">
            <a:alphaModFix/>
          </a:blip>
          <a:srcRect b="0" l="1419" r="1419" t="0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5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420" name="Google Shape;420;p25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424" name="Google Shape;424;p25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425" name="Google Shape;425;p25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Clientes</a:t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2125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6" title="Captura de tela 2026-06-24 232815.png"/>
          <p:cNvPicPr preferRelativeResize="0"/>
          <p:nvPr/>
        </p:nvPicPr>
        <p:blipFill rotWithShape="1">
          <a:blip r:embed="rId5">
            <a:alphaModFix/>
          </a:blip>
          <a:srcRect b="0" l="2344" r="2354" t="0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6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440" name="Google Shape;440;p26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444" name="Google Shape;444;p26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445" name="Google Shape;445;p26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Recorrências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7" title="Captura de tela 2026-06-24 232828.png"/>
          <p:cNvPicPr preferRelativeResize="0"/>
          <p:nvPr/>
        </p:nvPicPr>
        <p:blipFill rotWithShape="1">
          <a:blip r:embed="rId5">
            <a:alphaModFix/>
          </a:blip>
          <a:srcRect b="3917" l="0" r="0" t="3917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7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461" name="Google Shape;461;p27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462" name="Google Shape;462;p27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463" name="Google Shape;463;p27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467" name="Google Shape;467;p27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Recorrências</a:t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8" title="Captura de tela 2026-06-24 233128.png"/>
          <p:cNvPicPr preferRelativeResize="0"/>
          <p:nvPr/>
        </p:nvPicPr>
        <p:blipFill rotWithShape="1">
          <a:blip r:embed="rId5">
            <a:alphaModFix/>
          </a:blip>
          <a:srcRect b="0" l="3254" r="3254" t="0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8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482" name="Google Shape;482;p28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483" name="Google Shape;483;p28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484" name="Google Shape;484;p28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485" name="Google Shape;485;p28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486" name="Google Shape;486;p28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487" name="Google Shape;487;p28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Movimentações</a:t>
            </a:r>
            <a:endParaRPr/>
          </a:p>
        </p:txBody>
      </p:sp>
      <p:sp>
        <p:nvSpPr>
          <p:cNvPr id="490" name="Google Shape;490;p28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5" name="Google Shape;4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 title="Captura de tela 2026-06-24 233141.png"/>
          <p:cNvPicPr preferRelativeResize="0"/>
          <p:nvPr/>
        </p:nvPicPr>
        <p:blipFill rotWithShape="1">
          <a:blip r:embed="rId5">
            <a:alphaModFix/>
          </a:blip>
          <a:srcRect b="5775" l="0" r="0" t="5784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9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503" name="Google Shape;503;p29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504" name="Google Shape;504;p29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506" name="Google Shape;506;p29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507" name="Google Shape;507;p29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508" name="Google Shape;508;p29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509" name="Google Shape;509;p29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510" name="Google Shape;510;p29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Movimentações</a:t>
            </a:r>
            <a:endParaRPr/>
          </a:p>
        </p:txBody>
      </p:sp>
      <p:sp>
        <p:nvSpPr>
          <p:cNvPr id="511" name="Google Shape;511;p29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6" name="Google Shape;51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0" title="Captura de tela 2026-06-24 233326.png"/>
          <p:cNvPicPr preferRelativeResize="0"/>
          <p:nvPr/>
        </p:nvPicPr>
        <p:blipFill rotWithShape="1">
          <a:blip r:embed="rId5">
            <a:alphaModFix/>
          </a:blip>
          <a:srcRect b="0" l="1747" r="1747" t="0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0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524" name="Google Shape;524;p30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525" name="Google Shape;525;p30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526" name="Google Shape;526;p30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527" name="Google Shape;527;p30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528" name="Google Shape;528;p30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529" name="Google Shape;529;p30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530" name="Google Shape;530;p30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531" name="Google Shape;531;p30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Estoque</a:t>
            </a:r>
            <a:endParaRPr/>
          </a:p>
        </p:txBody>
      </p:sp>
      <p:sp>
        <p:nvSpPr>
          <p:cNvPr id="532" name="Google Shape;532;p30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7" name="Google Shape;5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1" title="Captura de tela 2026-06-24 233354.png"/>
          <p:cNvPicPr preferRelativeResize="0"/>
          <p:nvPr/>
        </p:nvPicPr>
        <p:blipFill rotWithShape="1">
          <a:blip r:embed="rId5">
            <a:alphaModFix/>
          </a:blip>
          <a:srcRect b="4816" l="0" r="0" t="4825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1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545" name="Google Shape;545;p31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546" name="Google Shape;546;p31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549" name="Google Shape;549;p31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550" name="Google Shape;550;p31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551" name="Google Shape;551;p31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Estoque</a:t>
            </a:r>
            <a:endParaRPr/>
          </a:p>
        </p:txBody>
      </p:sp>
      <p:sp>
        <p:nvSpPr>
          <p:cNvPr id="553" name="Google Shape;553;p31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8" name="Google Shape;55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2" title="Captura de tela 2026-06-24 233602.png"/>
          <p:cNvPicPr preferRelativeResize="0"/>
          <p:nvPr/>
        </p:nvPicPr>
        <p:blipFill rotWithShape="1">
          <a:blip r:embed="rId5">
            <a:alphaModFix/>
          </a:blip>
          <a:srcRect b="2181" l="0" r="0" t="2181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4" name="Google Shape;564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2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566" name="Google Shape;566;p32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567" name="Google Shape;567;p32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573" name="Google Shape;573;p32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Contas a Pagar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9" name="Google Shape;5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33" title="Captura de tela 2026-06-24 233616.png"/>
          <p:cNvPicPr preferRelativeResize="0"/>
          <p:nvPr/>
        </p:nvPicPr>
        <p:blipFill rotWithShape="1">
          <a:blip r:embed="rId5">
            <a:alphaModFix/>
          </a:blip>
          <a:srcRect b="308" l="0" r="0" t="308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4" name="Google Shape;58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5" name="Google Shape;585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3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587" name="Google Shape;587;p33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588" name="Google Shape;588;p33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589" name="Google Shape;589;p33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590" name="Google Shape;590;p33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591" name="Google Shape;591;p33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592" name="Google Shape;592;p33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593" name="Google Shape;593;p33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594" name="Google Shape;594;p33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Contas a Receber</a:t>
            </a:r>
            <a:endParaRPr/>
          </a:p>
        </p:txBody>
      </p:sp>
      <p:sp>
        <p:nvSpPr>
          <p:cNvPr id="595" name="Google Shape;595;p33"/>
          <p:cNvSpPr/>
          <p:nvPr/>
        </p:nvSpPr>
        <p:spPr>
          <a:xfrm>
            <a:off x="79486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0" name="Google Shape;60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1" name="Google Shape;60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4" title="Captura de tela 2026-06-24 233326.png"/>
          <p:cNvPicPr preferRelativeResize="0"/>
          <p:nvPr/>
        </p:nvPicPr>
        <p:blipFill rotWithShape="1">
          <a:blip r:embed="rId5">
            <a:alphaModFix/>
          </a:blip>
          <a:srcRect b="0" l="1747" r="1747" t="0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3" name="Google Shape;60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34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608" name="Google Shape;608;p34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609" name="Google Shape;609;p34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610" name="Google Shape;610;p34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611" name="Google Shape;611;p34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612" name="Google Shape;612;p34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613" name="Google Shape;613;p34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614" name="Google Shape;614;p34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615" name="Google Shape;615;p34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Tela X</a:t>
            </a:r>
            <a:endParaRPr/>
          </a:p>
        </p:txBody>
      </p:sp>
      <p:sp>
        <p:nvSpPr>
          <p:cNvPr id="616" name="Google Shape;616;p34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1" name="Google Shape;62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2" name="Google Shape;622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5" title="Captura de tela 2026-06-24 233841.png"/>
          <p:cNvPicPr preferRelativeResize="0"/>
          <p:nvPr/>
        </p:nvPicPr>
        <p:blipFill rotWithShape="1">
          <a:blip r:embed="rId5">
            <a:alphaModFix/>
          </a:blip>
          <a:srcRect b="3704" l="0" r="0" t="3704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4" name="Google Shape;624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5" name="Google Shape;62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35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629" name="Google Shape;629;p35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630" name="Google Shape;630;p35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631" name="Google Shape;631;p35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632" name="Google Shape;632;p35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633" name="Google Shape;633;p35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634" name="Google Shape;634;p35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635" name="Google Shape;635;p35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636" name="Google Shape;636;p35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Dashboard</a:t>
            </a:r>
            <a:endParaRPr/>
          </a:p>
        </p:txBody>
      </p:sp>
      <p:sp>
        <p:nvSpPr>
          <p:cNvPr id="637" name="Google Shape;637;p35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2" name="Google Shape;64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3" name="Google Shape;64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 title="Captura de tela 2026-06-24 233912.png"/>
          <p:cNvPicPr preferRelativeResize="0"/>
          <p:nvPr/>
        </p:nvPicPr>
        <p:blipFill rotWithShape="1">
          <a:blip r:embed="rId5">
            <a:alphaModFix/>
          </a:blip>
          <a:srcRect b="5955" l="0" r="0" t="5947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5" name="Google Shape;64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6" name="Google Shape;646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7" name="Google Shape;647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6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650" name="Google Shape;650;p36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651" name="Google Shape;651;p36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652" name="Google Shape;652;p36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653" name="Google Shape;653;p36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654" name="Google Shape;654;p36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655" name="Google Shape;655;p36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656" name="Google Shape;656;p36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657" name="Google Shape;657;p36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Relatorio</a:t>
            </a:r>
            <a:endParaRPr/>
          </a:p>
        </p:txBody>
      </p:sp>
      <p:sp>
        <p:nvSpPr>
          <p:cNvPr id="658" name="Google Shape;658;p36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3" name="Google Shape;6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37" title="Captura de tela 2026-06-24 234000.png"/>
          <p:cNvPicPr preferRelativeResize="0"/>
          <p:nvPr/>
        </p:nvPicPr>
        <p:blipFill rotWithShape="1">
          <a:blip r:embed="rId5">
            <a:alphaModFix/>
          </a:blip>
          <a:srcRect b="0" l="2892" r="2892" t="0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6" name="Google Shape;666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7" name="Google Shape;667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8" name="Google Shape;66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9" name="Google Shape;66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7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671" name="Google Shape;671;p37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672" name="Google Shape;672;p37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673" name="Google Shape;673;p37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674" name="Google Shape;674;p37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675" name="Google Shape;675;p37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676" name="Google Shape;676;p37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677" name="Google Shape;677;p37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678" name="Google Shape;678;p37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Serviços</a:t>
            </a:r>
            <a:endParaRPr/>
          </a:p>
        </p:txBody>
      </p:sp>
      <p:sp>
        <p:nvSpPr>
          <p:cNvPr id="679" name="Google Shape;679;p37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4" name="Google Shape;68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5" name="Google Shape;68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8" title="Captura de tela 2026-06-24 234027.png"/>
          <p:cNvPicPr preferRelativeResize="0"/>
          <p:nvPr/>
        </p:nvPicPr>
        <p:blipFill rotWithShape="1">
          <a:blip r:embed="rId5">
            <a:alphaModFix/>
          </a:blip>
          <a:srcRect b="874" l="0" r="0" t="884"/>
          <a:stretch/>
        </p:blipFill>
        <p:spPr>
          <a:xfrm>
            <a:off x="2219325" y="1517302"/>
            <a:ext cx="2743200" cy="457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7" name="Google Shape;68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8" name="Google Shape;68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9" name="Google Shape;689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0" name="Google Shape;69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8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692" name="Google Shape;692;p38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693" name="Google Shape;693;p38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694" name="Google Shape;694;p38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695" name="Google Shape;695;p38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696" name="Google Shape;696;p38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697" name="Google Shape;697;p38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698" name="Google Shape;698;p38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699" name="Google Shape;699;p38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Dashboard</a:t>
            </a:r>
            <a:endParaRPr/>
          </a:p>
        </p:txBody>
      </p:sp>
      <p:sp>
        <p:nvSpPr>
          <p:cNvPr id="700" name="Google Shape;700;p38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6" name="Google Shape;70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66925" y="1364902"/>
            <a:ext cx="30480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39" title="Captura de tela 2026-06-24 234038.png"/>
          <p:cNvPicPr preferRelativeResize="0"/>
          <p:nvPr/>
        </p:nvPicPr>
        <p:blipFill rotWithShape="1">
          <a:blip r:embed="rId5">
            <a:alphaModFix/>
          </a:blip>
          <a:srcRect b="1333" l="0" r="0" t="1333"/>
          <a:stretch/>
        </p:blipFill>
        <p:spPr>
          <a:xfrm>
            <a:off x="2219325" y="1517302"/>
            <a:ext cx="2743200" cy="4572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8" name="Google Shape;70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2775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9" name="Google Shape;709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53550" y="3112740"/>
            <a:ext cx="4095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0" name="Google Shape;710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62775" y="41128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1" name="Google Shape;711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3550" y="41128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39"/>
          <p:cNvSpPr txBox="1"/>
          <p:nvPr/>
        </p:nvSpPr>
        <p:spPr>
          <a:xfrm>
            <a:off x="7486650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713" name="Google Shape;713;p39"/>
          <p:cNvSpPr txBox="1"/>
          <p:nvPr/>
        </p:nvSpPr>
        <p:spPr>
          <a:xfrm>
            <a:off x="7486650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Visão clara do fluxo de caixa e saldos.</a:t>
            </a:r>
            <a:endParaRPr/>
          </a:p>
        </p:txBody>
      </p:sp>
      <p:sp>
        <p:nvSpPr>
          <p:cNvPr id="714" name="Google Shape;714;p39"/>
          <p:cNvSpPr txBox="1"/>
          <p:nvPr/>
        </p:nvSpPr>
        <p:spPr>
          <a:xfrm>
            <a:off x="9877425" y="3041302"/>
            <a:ext cx="146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Receitas e Despesas</a:t>
            </a:r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9877425" y="3241327"/>
            <a:ext cx="139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Lançamento ágil de fluxos financeiros.</a:t>
            </a:r>
            <a:endParaRPr/>
          </a:p>
        </p:txBody>
      </p:sp>
      <p:sp>
        <p:nvSpPr>
          <p:cNvPr id="716" name="Google Shape;716;p39"/>
          <p:cNvSpPr txBox="1"/>
          <p:nvPr/>
        </p:nvSpPr>
        <p:spPr>
          <a:xfrm>
            <a:off x="7458075" y="4041427"/>
            <a:ext cx="1490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Gestão de Metas</a:t>
            </a:r>
            <a:endParaRPr/>
          </a:p>
        </p:txBody>
      </p:sp>
      <p:sp>
        <p:nvSpPr>
          <p:cNvPr id="717" name="Google Shape;717;p39"/>
          <p:cNvSpPr txBox="1"/>
          <p:nvPr/>
        </p:nvSpPr>
        <p:spPr>
          <a:xfrm>
            <a:off x="7458075" y="4241452"/>
            <a:ext cx="1419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Acompanhamento mensal de objetivos.</a:t>
            </a:r>
            <a:endParaRPr/>
          </a:p>
        </p:txBody>
      </p:sp>
      <p:sp>
        <p:nvSpPr>
          <p:cNvPr id="718" name="Google Shape;718;p39"/>
          <p:cNvSpPr txBox="1"/>
          <p:nvPr/>
        </p:nvSpPr>
        <p:spPr>
          <a:xfrm>
            <a:off x="9801225" y="4041427"/>
            <a:ext cx="15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Relatórios</a:t>
            </a:r>
            <a:endParaRPr/>
          </a:p>
        </p:txBody>
      </p:sp>
      <p:sp>
        <p:nvSpPr>
          <p:cNvPr id="719" name="Google Shape;719;p39"/>
          <p:cNvSpPr txBox="1"/>
          <p:nvPr/>
        </p:nvSpPr>
        <p:spPr>
          <a:xfrm>
            <a:off x="9801225" y="4241452"/>
            <a:ext cx="1467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Balanço unificado para tomadas de decisão.</a:t>
            </a:r>
            <a:endParaRPr/>
          </a:p>
        </p:txBody>
      </p:sp>
      <p:sp>
        <p:nvSpPr>
          <p:cNvPr id="720" name="Google Shape;720;p39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DEMONSTRAÇÃO - </a:t>
            </a:r>
            <a:r>
              <a:rPr lang="en-US" sz="28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Dashboard</a:t>
            </a:r>
            <a:endParaRPr/>
          </a:p>
        </p:txBody>
      </p:sp>
      <p:sp>
        <p:nvSpPr>
          <p:cNvPr id="721" name="Google Shape;721;p39"/>
          <p:cNvSpPr/>
          <p:nvPr/>
        </p:nvSpPr>
        <p:spPr>
          <a:xfrm>
            <a:off x="7720013" y="77174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6" name="Google Shape;7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7" name="Google Shape;72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2712690"/>
            <a:ext cx="411480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8" name="Google Shape;72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72575" y="300796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40"/>
          <p:cNvSpPr txBox="1"/>
          <p:nvPr/>
        </p:nvSpPr>
        <p:spPr>
          <a:xfrm>
            <a:off x="7522368" y="3655665"/>
            <a:ext cx="37004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Resultado Homologado</a:t>
            </a:r>
            <a:endParaRPr/>
          </a:p>
        </p:txBody>
      </p:sp>
      <p:sp>
        <p:nvSpPr>
          <p:cNvPr id="730" name="Google Shape;730;p40"/>
          <p:cNvSpPr txBox="1"/>
          <p:nvPr/>
        </p:nvSpPr>
        <p:spPr>
          <a:xfrm>
            <a:off x="7610475" y="3998565"/>
            <a:ext cx="35242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"As funcionalidades apresentaram comportamento estável e plenamente compatível com os requisitos de negócio definidos."</a:t>
            </a:r>
            <a:endParaRPr/>
          </a:p>
        </p:txBody>
      </p:sp>
      <p:pic>
        <p:nvPicPr>
          <p:cNvPr descr="image.png" id="731" name="Google Shape;731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2927320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0"/>
          <p:cNvSpPr txBox="1"/>
          <p:nvPr/>
        </p:nvSpPr>
        <p:spPr>
          <a:xfrm>
            <a:off x="1390650" y="2979708"/>
            <a:ext cx="1600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Cadastro de Receitas</a:t>
            </a:r>
            <a:endParaRPr/>
          </a:p>
        </p:txBody>
      </p:sp>
      <p:pic>
        <p:nvPicPr>
          <p:cNvPr descr="image.png" id="733" name="Google Shape;733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0512" y="2927320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0"/>
          <p:cNvSpPr txBox="1"/>
          <p:nvPr/>
        </p:nvSpPr>
        <p:spPr>
          <a:xfrm>
            <a:off x="4548187" y="2998811"/>
            <a:ext cx="1714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Cadastro de Despesas</a:t>
            </a:r>
            <a:endParaRPr/>
          </a:p>
        </p:txBody>
      </p:sp>
      <p:pic>
        <p:nvPicPr>
          <p:cNvPr descr="image.png" id="735" name="Google Shape;735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3641377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0"/>
          <p:cNvSpPr txBox="1"/>
          <p:nvPr/>
        </p:nvSpPr>
        <p:spPr>
          <a:xfrm>
            <a:off x="1390650" y="3693765"/>
            <a:ext cx="1752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Indicadores Dashboard</a:t>
            </a:r>
            <a:endParaRPr/>
          </a:p>
        </p:txBody>
      </p:sp>
      <p:pic>
        <p:nvPicPr>
          <p:cNvPr descr="image.png" id="737" name="Google Shape;737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0512" y="3641377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40"/>
          <p:cNvSpPr txBox="1"/>
          <p:nvPr/>
        </p:nvSpPr>
        <p:spPr>
          <a:xfrm>
            <a:off x="4548187" y="369376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Controle de Estoque</a:t>
            </a:r>
            <a:endParaRPr/>
          </a:p>
        </p:txBody>
      </p:sp>
      <p:pic>
        <p:nvPicPr>
          <p:cNvPr descr="image.png" id="739" name="Google Shape;739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" y="4384088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0"/>
          <p:cNvSpPr txBox="1"/>
          <p:nvPr/>
        </p:nvSpPr>
        <p:spPr>
          <a:xfrm>
            <a:off x="1390650" y="4360064"/>
            <a:ext cx="1533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Notificações Internas</a:t>
            </a:r>
            <a:endParaRPr/>
          </a:p>
        </p:txBody>
      </p:sp>
      <p:pic>
        <p:nvPicPr>
          <p:cNvPr descr="image.png" id="741" name="Google Shape;74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00512" y="4384513"/>
            <a:ext cx="3048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0"/>
          <p:cNvSpPr txBox="1"/>
          <p:nvPr/>
        </p:nvSpPr>
        <p:spPr>
          <a:xfrm>
            <a:off x="4548170" y="4436909"/>
            <a:ext cx="1918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Metas e Relatórios</a:t>
            </a:r>
            <a:endParaRPr/>
          </a:p>
        </p:txBody>
      </p:sp>
      <p:sp>
        <p:nvSpPr>
          <p:cNvPr id="743" name="Google Shape;743;p40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TESTES REALIZADOS</a:t>
            </a:r>
            <a:endParaRPr/>
          </a:p>
        </p:txBody>
      </p:sp>
      <p:sp>
        <p:nvSpPr>
          <p:cNvPr id="744" name="Google Shape;744;p40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9" name="Google Shape;74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0" name="Google Shape;75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14662"/>
            <a:ext cx="5143500" cy="157728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1"/>
          <p:cNvSpPr txBox="1"/>
          <p:nvPr/>
        </p:nvSpPr>
        <p:spPr>
          <a:xfrm>
            <a:off x="1104900" y="3357562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"O sistema atende às necessidades identificadas durante a entrevista e foi integralmente aprovado."</a:t>
            </a:r>
            <a:endParaRPr/>
          </a:p>
        </p:txBody>
      </p:sp>
      <p:sp>
        <p:nvSpPr>
          <p:cNvPr id="752" name="Google Shape;752;p41"/>
          <p:cNvSpPr txBox="1"/>
          <p:nvPr/>
        </p:nvSpPr>
        <p:spPr>
          <a:xfrm>
            <a:off x="1060575" y="4265367"/>
            <a:ext cx="445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HUGO ROCHA — SERRALHERIA ROCHA</a:t>
            </a:r>
            <a:endParaRPr/>
          </a:p>
        </p:txBody>
      </p:sp>
      <p:sp>
        <p:nvSpPr>
          <p:cNvPr id="753" name="Google Shape;753;p41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VALIDAÇÃO DA SOLUÇÃO</a:t>
            </a:r>
            <a:endParaRPr/>
          </a:p>
        </p:txBody>
      </p:sp>
      <p:sp>
        <p:nvSpPr>
          <p:cNvPr id="754" name="Google Shape;754;p41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9" name="Google Shape;75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0" name="Google Shape;7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41252"/>
            <a:ext cx="519112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1" name="Google Shape;76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641252"/>
            <a:ext cx="5191125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2"/>
          <p:cNvSpPr txBox="1"/>
          <p:nvPr/>
        </p:nvSpPr>
        <p:spPr>
          <a:xfrm>
            <a:off x="1400175" y="2974627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Para o Empreendedor</a:t>
            </a:r>
            <a:endParaRPr/>
          </a:p>
        </p:txBody>
      </p:sp>
      <p:sp>
        <p:nvSpPr>
          <p:cNvPr id="763" name="Google Shape;763;p42"/>
          <p:cNvSpPr txBox="1"/>
          <p:nvPr/>
        </p:nvSpPr>
        <p:spPr>
          <a:xfrm>
            <a:off x="6877050" y="2974627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Para a Comunidade</a:t>
            </a:r>
            <a:endParaRPr/>
          </a:p>
        </p:txBody>
      </p:sp>
      <p:pic>
        <p:nvPicPr>
          <p:cNvPr descr="image.png" id="764" name="Google Shape;76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99367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2"/>
          <p:cNvSpPr txBox="1"/>
          <p:nvPr/>
        </p:nvSpPr>
        <p:spPr>
          <a:xfrm>
            <a:off x="1295400" y="3393727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Total controle de fluxo de caixa e redução de erros operacionais.</a:t>
            </a:r>
            <a:endParaRPr/>
          </a:p>
        </p:txBody>
      </p:sp>
      <p:sp>
        <p:nvSpPr>
          <p:cNvPr id="766" name="Google Shape;766;p42"/>
          <p:cNvSpPr txBox="1"/>
          <p:nvPr/>
        </p:nvSpPr>
        <p:spPr>
          <a:xfrm>
            <a:off x="1295400" y="3736627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Facilidade de separação entre receitas pessoais e corporativas.</a:t>
            </a:r>
            <a:endParaRPr/>
          </a:p>
        </p:txBody>
      </p:sp>
      <p:sp>
        <p:nvSpPr>
          <p:cNvPr id="767" name="Google Shape;767;p42"/>
          <p:cNvSpPr txBox="1"/>
          <p:nvPr/>
        </p:nvSpPr>
        <p:spPr>
          <a:xfrm>
            <a:off x="1295400" y="4079527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Dados precisos de faturamento para guiar a tomada de ações.</a:t>
            </a:r>
            <a:endParaRPr/>
          </a:p>
        </p:txBody>
      </p:sp>
      <p:pic>
        <p:nvPicPr>
          <p:cNvPr descr="image.png" id="768" name="Google Shape;76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99367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42"/>
          <p:cNvSpPr txBox="1"/>
          <p:nvPr/>
        </p:nvSpPr>
        <p:spPr>
          <a:xfrm>
            <a:off x="6772275" y="3393727"/>
            <a:ext cx="4371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Incentivo prático à educação financeira básica de trabalhadores autônomos.</a:t>
            </a:r>
            <a:endParaRPr/>
          </a:p>
        </p:txBody>
      </p:sp>
      <p:sp>
        <p:nvSpPr>
          <p:cNvPr id="770" name="Google Shape;770;p42"/>
          <p:cNvSpPr txBox="1"/>
          <p:nvPr/>
        </p:nvSpPr>
        <p:spPr>
          <a:xfrm>
            <a:off x="6772275" y="3936652"/>
            <a:ext cx="4371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Fomento à inclusão digital no setor de pequenos serviços tradicionais.</a:t>
            </a:r>
            <a:endParaRPr/>
          </a:p>
        </p:txBody>
      </p:sp>
      <p:sp>
        <p:nvSpPr>
          <p:cNvPr id="771" name="Google Shape;771;p42"/>
          <p:cNvSpPr txBox="1"/>
          <p:nvPr/>
        </p:nvSpPr>
        <p:spPr>
          <a:xfrm>
            <a:off x="6772275" y="4479577"/>
            <a:ext cx="43719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Fortalecimento e perenidade dos pequenos negócios locais.</a:t>
            </a:r>
            <a:endParaRPr/>
          </a:p>
        </p:txBody>
      </p:sp>
      <p:pic>
        <p:nvPicPr>
          <p:cNvPr descr="image.png" id="772" name="Google Shape;772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341754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3" name="Google Shape;77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376044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4" name="Google Shape;774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7750" y="410334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5" name="Google Shape;775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41754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6" name="Google Shape;776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960465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7" name="Google Shape;777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4503390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2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BENEFÍCIOS GERADOS</a:t>
            </a:r>
            <a:endParaRPr/>
          </a:p>
        </p:txBody>
      </p:sp>
      <p:sp>
        <p:nvSpPr>
          <p:cNvPr id="779" name="Google Shape;779;p42"/>
          <p:cNvSpPr/>
          <p:nvPr/>
        </p:nvSpPr>
        <p:spPr>
          <a:xfrm>
            <a:off x="58102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84" name="Google Shape;78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5" name="Google Shape;78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77355"/>
            <a:ext cx="2453580" cy="920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0139" y="2177355"/>
            <a:ext cx="2453580" cy="920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275" y="2177349"/>
            <a:ext cx="2453575" cy="92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76419" y="2177355"/>
            <a:ext cx="2453580" cy="92005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3"/>
          <p:cNvSpPr/>
          <p:nvPr/>
        </p:nvSpPr>
        <p:spPr>
          <a:xfrm>
            <a:off x="1845915" y="170110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 cap="flat" cmpd="sng" w="38100">
            <a:solidFill>
              <a:srgbClr val="103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3"/>
          <p:cNvSpPr/>
          <p:nvPr/>
        </p:nvSpPr>
        <p:spPr>
          <a:xfrm>
            <a:off x="4584055" y="170110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 cap="flat" cmpd="sng" w="38100">
            <a:solidFill>
              <a:srgbClr val="103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7322194" y="170110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 cap="flat" cmpd="sng" w="38100">
            <a:solidFill>
              <a:srgbClr val="103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3"/>
          <p:cNvSpPr/>
          <p:nvPr/>
        </p:nvSpPr>
        <p:spPr>
          <a:xfrm>
            <a:off x="10060334" y="1701105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 cap="flat" cmpd="sng" w="38100">
            <a:solidFill>
              <a:srgbClr val="1033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3"/>
          <p:cNvSpPr txBox="1"/>
          <p:nvPr/>
        </p:nvSpPr>
        <p:spPr>
          <a:xfrm>
            <a:off x="870681" y="2339280"/>
            <a:ext cx="2236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Requisitos &amp; UX</a:t>
            </a:r>
            <a:endParaRPr/>
          </a:p>
        </p:txBody>
      </p:sp>
      <p:sp>
        <p:nvSpPr>
          <p:cNvPr id="794" name="Google Shape;794;p43"/>
          <p:cNvSpPr txBox="1"/>
          <p:nvPr/>
        </p:nvSpPr>
        <p:spPr>
          <a:xfrm>
            <a:off x="923925" y="2615505"/>
            <a:ext cx="21297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Mapeamento de necessidades com o cliente real.</a:t>
            </a:r>
            <a:endParaRPr/>
          </a:p>
        </p:txBody>
      </p:sp>
      <p:sp>
        <p:nvSpPr>
          <p:cNvPr id="795" name="Google Shape;795;p43"/>
          <p:cNvSpPr txBox="1"/>
          <p:nvPr/>
        </p:nvSpPr>
        <p:spPr>
          <a:xfrm>
            <a:off x="3608821" y="2339280"/>
            <a:ext cx="2236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Nuvem &amp; NoSQL</a:t>
            </a:r>
            <a:endParaRPr/>
          </a:p>
        </p:txBody>
      </p:sp>
      <p:sp>
        <p:nvSpPr>
          <p:cNvPr id="796" name="Google Shape;796;p43"/>
          <p:cNvSpPr txBox="1"/>
          <p:nvPr/>
        </p:nvSpPr>
        <p:spPr>
          <a:xfrm>
            <a:off x="3662064" y="2615505"/>
            <a:ext cx="21297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Implementação do banco de dados ágil no Firebase.</a:t>
            </a:r>
            <a:endParaRPr/>
          </a:p>
        </p:txBody>
      </p:sp>
      <p:sp>
        <p:nvSpPr>
          <p:cNvPr id="797" name="Google Shape;797;p43"/>
          <p:cNvSpPr txBox="1"/>
          <p:nvPr/>
        </p:nvSpPr>
        <p:spPr>
          <a:xfrm>
            <a:off x="6346961" y="2339280"/>
            <a:ext cx="2236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React Native</a:t>
            </a:r>
            <a:endParaRPr/>
          </a:p>
        </p:txBody>
      </p:sp>
      <p:sp>
        <p:nvSpPr>
          <p:cNvPr id="798" name="Google Shape;798;p43"/>
          <p:cNvSpPr txBox="1"/>
          <p:nvPr/>
        </p:nvSpPr>
        <p:spPr>
          <a:xfrm>
            <a:off x="6400204" y="2615505"/>
            <a:ext cx="212973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Desenvolvimento cross-platform fluido.</a:t>
            </a:r>
            <a:endParaRPr/>
          </a:p>
        </p:txBody>
      </p:sp>
      <p:sp>
        <p:nvSpPr>
          <p:cNvPr id="799" name="Google Shape;799;p43"/>
          <p:cNvSpPr txBox="1"/>
          <p:nvPr/>
        </p:nvSpPr>
        <p:spPr>
          <a:xfrm>
            <a:off x="9085101" y="2339280"/>
            <a:ext cx="223621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Trabalho Ágil</a:t>
            </a:r>
            <a:endParaRPr/>
          </a:p>
        </p:txBody>
      </p:sp>
      <p:sp>
        <p:nvSpPr>
          <p:cNvPr id="800" name="Google Shape;800;p43"/>
          <p:cNvSpPr txBox="1"/>
          <p:nvPr/>
        </p:nvSpPr>
        <p:spPr>
          <a:xfrm>
            <a:off x="9138344" y="2615505"/>
            <a:ext cx="212973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Coordenação de sprint, Git colaborativo e Scrum.</a:t>
            </a:r>
            <a:endParaRPr/>
          </a:p>
        </p:txBody>
      </p:sp>
      <p:sp>
        <p:nvSpPr>
          <p:cNvPr id="801" name="Google Shape;801;p43"/>
          <p:cNvSpPr/>
          <p:nvPr/>
        </p:nvSpPr>
        <p:spPr>
          <a:xfrm>
            <a:off x="1295400" y="2129730"/>
            <a:ext cx="96012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43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DESAFIOS E APRENDIZADOS</a:t>
            </a:r>
            <a:endParaRPr/>
          </a:p>
        </p:txBody>
      </p:sp>
      <p:sp>
        <p:nvSpPr>
          <p:cNvPr id="803" name="Google Shape;803;p43"/>
          <p:cNvSpPr/>
          <p:nvPr/>
        </p:nvSpPr>
        <p:spPr>
          <a:xfrm>
            <a:off x="6419850" y="807690"/>
            <a:ext cx="571500" cy="38100"/>
          </a:xfrm>
          <a:prstGeom prst="roundRect">
            <a:avLst>
              <a:gd fmla="val 50000" name="adj"/>
            </a:avLst>
          </a:prstGeom>
          <a:solidFill>
            <a:srgbClr val="A5D6A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5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8" name="Google Shape;80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9" name="Google Shape;80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20105"/>
            <a:ext cx="3397150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0" name="Google Shape;81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1320105"/>
            <a:ext cx="3397299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1" name="Google Shape;81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1320105"/>
            <a:ext cx="3397150" cy="49663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2" name="Google Shape;812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1558230"/>
            <a:ext cx="29209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3" name="Google Shape;813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400" y="1558230"/>
            <a:ext cx="2921049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14" name="Google Shape;814;p4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70825" y="1558230"/>
            <a:ext cx="29209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4"/>
          <p:cNvSpPr txBox="1"/>
          <p:nvPr/>
        </p:nvSpPr>
        <p:spPr>
          <a:xfrm>
            <a:off x="1047117" y="1948755"/>
            <a:ext cx="282691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Automação &amp; Backup</a:t>
            </a:r>
            <a:endParaRPr/>
          </a:p>
        </p:txBody>
      </p:sp>
      <p:sp>
        <p:nvSpPr>
          <p:cNvPr id="816" name="Google Shape;816;p44"/>
          <p:cNvSpPr txBox="1"/>
          <p:nvPr/>
        </p:nvSpPr>
        <p:spPr>
          <a:xfrm>
            <a:off x="1200150" y="2434530"/>
            <a:ext cx="272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Exportação simples de relatórios em formato</a:t>
            </a: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PDF</a:t>
            </a: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/>
          </a:p>
        </p:txBody>
      </p:sp>
      <p:sp>
        <p:nvSpPr>
          <p:cNvPr id="817" name="Google Shape;817;p44"/>
          <p:cNvSpPr txBox="1"/>
          <p:nvPr/>
        </p:nvSpPr>
        <p:spPr>
          <a:xfrm>
            <a:off x="1200150" y="2929830"/>
            <a:ext cx="2720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Rotinas de backup automático de segurança.</a:t>
            </a:r>
            <a:endParaRPr/>
          </a:p>
        </p:txBody>
      </p:sp>
      <p:sp>
        <p:nvSpPr>
          <p:cNvPr id="818" name="Google Shape;818;p44"/>
          <p:cNvSpPr txBox="1"/>
          <p:nvPr/>
        </p:nvSpPr>
        <p:spPr>
          <a:xfrm>
            <a:off x="4682389" y="1948755"/>
            <a:ext cx="282707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Conformidade Fiscal</a:t>
            </a:r>
            <a:endParaRPr/>
          </a:p>
        </p:txBody>
      </p:sp>
      <p:sp>
        <p:nvSpPr>
          <p:cNvPr id="819" name="Google Shape;819;p44"/>
          <p:cNvSpPr txBox="1"/>
          <p:nvPr/>
        </p:nvSpPr>
        <p:spPr>
          <a:xfrm>
            <a:off x="4835425" y="2434530"/>
            <a:ext cx="27210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Controle de limite de faturamento anual do MEI.</a:t>
            </a:r>
            <a:endParaRPr/>
          </a:p>
        </p:txBody>
      </p:sp>
      <p:sp>
        <p:nvSpPr>
          <p:cNvPr id="820" name="Google Shape;820;p44"/>
          <p:cNvSpPr txBox="1"/>
          <p:nvPr/>
        </p:nvSpPr>
        <p:spPr>
          <a:xfrm>
            <a:off x="4835425" y="2929830"/>
            <a:ext cx="27210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Lembretes de pagamento mensal da guia DAS.</a:t>
            </a:r>
            <a:endParaRPr/>
          </a:p>
        </p:txBody>
      </p:sp>
      <p:sp>
        <p:nvSpPr>
          <p:cNvPr id="821" name="Google Shape;821;p44"/>
          <p:cNvSpPr txBox="1"/>
          <p:nvPr/>
        </p:nvSpPr>
        <p:spPr>
          <a:xfrm>
            <a:off x="8317817" y="1948755"/>
            <a:ext cx="282691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5E20"/>
                </a:solidFill>
                <a:latin typeface="Montserrat"/>
                <a:ea typeface="Montserrat"/>
                <a:cs typeface="Montserrat"/>
                <a:sym typeface="Montserrat"/>
              </a:rPr>
              <a:t>Inteligência Financeira</a:t>
            </a:r>
            <a:endParaRPr/>
          </a:p>
        </p:txBody>
      </p:sp>
      <p:sp>
        <p:nvSpPr>
          <p:cNvPr id="822" name="Google Shape;822;p44"/>
          <p:cNvSpPr txBox="1"/>
          <p:nvPr/>
        </p:nvSpPr>
        <p:spPr>
          <a:xfrm>
            <a:off x="8470850" y="2434530"/>
            <a:ext cx="2720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Conciliação bancária automática de extratos.</a:t>
            </a:r>
            <a:endParaRPr/>
          </a:p>
        </p:txBody>
      </p:sp>
      <p:sp>
        <p:nvSpPr>
          <p:cNvPr id="823" name="Google Shape;823;p44"/>
          <p:cNvSpPr txBox="1"/>
          <p:nvPr/>
        </p:nvSpPr>
        <p:spPr>
          <a:xfrm>
            <a:off x="8470850" y="2929830"/>
            <a:ext cx="27208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Dashboards analíticos avançados de projeção.</a:t>
            </a:r>
            <a:endParaRPr/>
          </a:p>
        </p:txBody>
      </p:sp>
      <p:pic>
        <p:nvPicPr>
          <p:cNvPr descr="image.png" id="824" name="Google Shape;824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56311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5" name="Google Shape;825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305841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6" name="Google Shape;826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5400" y="256311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7" name="Google Shape;827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5400" y="305841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8" name="Google Shape;828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0825" y="256311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9" name="Google Shape;829;p4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0825" y="3058417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44"/>
          <p:cNvSpPr txBox="1"/>
          <p:nvPr/>
        </p:nvSpPr>
        <p:spPr>
          <a:xfrm>
            <a:off x="762000" y="571500"/>
            <a:ext cx="1120140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PRÓXIMOS PASSOS (ROADMAP)</a:t>
            </a:r>
            <a:endParaRPr/>
          </a:p>
        </p:txBody>
      </p:sp>
      <p:sp>
        <p:nvSpPr>
          <p:cNvPr id="831" name="Google Shape;831;p44"/>
          <p:cNvSpPr/>
          <p:nvPr/>
        </p:nvSpPr>
        <p:spPr>
          <a:xfrm>
            <a:off x="7039625" y="83431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E14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5"/>
          <p:cNvSpPr txBox="1"/>
          <p:nvPr/>
        </p:nvSpPr>
        <p:spPr>
          <a:xfrm>
            <a:off x="762000" y="2452687"/>
            <a:ext cx="642080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/>
          </a:p>
        </p:txBody>
      </p:sp>
      <p:sp>
        <p:nvSpPr>
          <p:cNvPr id="837" name="Google Shape;837;p45"/>
          <p:cNvSpPr txBox="1"/>
          <p:nvPr/>
        </p:nvSpPr>
        <p:spPr>
          <a:xfrm>
            <a:off x="762000" y="3290887"/>
            <a:ext cx="6115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5D6A7"/>
                </a:solidFill>
                <a:latin typeface="Poppins"/>
                <a:ea typeface="Poppins"/>
                <a:cs typeface="Poppins"/>
                <a:sym typeface="Poppins"/>
              </a:rPr>
              <a:t>MEI Easy — Gestão Financeira Simplificada</a:t>
            </a:r>
            <a:endParaRPr/>
          </a:p>
        </p:txBody>
      </p:sp>
      <p:sp>
        <p:nvSpPr>
          <p:cNvPr id="838" name="Google Shape;838;p45"/>
          <p:cNvSpPr txBox="1"/>
          <p:nvPr/>
        </p:nvSpPr>
        <p:spPr>
          <a:xfrm>
            <a:off x="952500" y="3833812"/>
            <a:ext cx="5924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"Simplificando a rotina administrativa e apoiando a prosperidade do microempreendedor." </a:t>
            </a:r>
            <a:endParaRPr/>
          </a:p>
        </p:txBody>
      </p:sp>
      <p:sp>
        <p:nvSpPr>
          <p:cNvPr id="839" name="Google Shape;839;p45"/>
          <p:cNvSpPr/>
          <p:nvPr/>
        </p:nvSpPr>
        <p:spPr>
          <a:xfrm>
            <a:off x="762000" y="3833812"/>
            <a:ext cx="38100" cy="57150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6"/>
          <p:cNvSpPr txBox="1"/>
          <p:nvPr/>
        </p:nvSpPr>
        <p:spPr>
          <a:xfrm>
            <a:off x="810725" y="1323450"/>
            <a:ext cx="10530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Referência no Padrão ABNT</a:t>
            </a:r>
            <a:endParaRPr/>
          </a:p>
        </p:txBody>
      </p:sp>
      <p:sp>
        <p:nvSpPr>
          <p:cNvPr id="845" name="Google Shape;845;p46"/>
          <p:cNvSpPr txBox="1"/>
          <p:nvPr/>
        </p:nvSpPr>
        <p:spPr>
          <a:xfrm>
            <a:off x="762000" y="571500"/>
            <a:ext cx="1120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solidFill>
                  <a:srgbClr val="1B5E2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Referências Bibliográficas</a:t>
            </a:r>
            <a:endParaRPr/>
          </a:p>
        </p:txBody>
      </p:sp>
      <p:sp>
        <p:nvSpPr>
          <p:cNvPr id="846" name="Google Shape;846;p46"/>
          <p:cNvSpPr txBox="1"/>
          <p:nvPr/>
        </p:nvSpPr>
        <p:spPr>
          <a:xfrm>
            <a:off x="810725" y="1664125"/>
            <a:ext cx="10530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Referência no Padrão ABNT</a:t>
            </a:r>
            <a:endParaRPr/>
          </a:p>
        </p:txBody>
      </p:sp>
      <p:sp>
        <p:nvSpPr>
          <p:cNvPr id="847" name="Google Shape;847;p46"/>
          <p:cNvSpPr txBox="1"/>
          <p:nvPr/>
        </p:nvSpPr>
        <p:spPr>
          <a:xfrm>
            <a:off x="810725" y="2060200"/>
            <a:ext cx="10530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Referência no Padrão ABNT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